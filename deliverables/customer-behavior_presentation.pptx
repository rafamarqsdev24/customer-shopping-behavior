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2E6B5E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3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3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EDDD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3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B5E"/>
              </a:solidFill>
              <a:effectLst/>
            </c:spPr>
          </c:dPt>
          <c:dPt>
            <c:idx val="1"/>
            <c:bubble3D val="0"/>
            <c:spPr>
              <a:solidFill>
                <a:srgbClr val="B8863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Masculino ($157.890)</c:v>
                </c:pt>
                <c:pt idx="1">
                  <c:v>Feminino ($75.191)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232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Nº de Clientes</c:v>
                </c:pt>
              </c:strCache>
            </c:strRef>
          </c:tx>
          <c:spPr>
            <a:solidFill>
              <a:srgbClr val="2E6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Adult</c:v>
                  </c:pt>
                  <c:pt idx="2">
                    <c:v>Middle-Aged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1028</c:v>
                </c:pt>
                <c:pt idx="1">
                  <c:v>942</c:v>
                </c:pt>
                <c:pt idx="2">
                  <c:v>986</c:v>
                </c:pt>
                <c:pt idx="3">
                  <c:v>944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Ticket Médio</c:v>
                </c:pt>
              </c:strCache>
            </c:strRef>
          </c:tx>
          <c:spPr>
            <a:solidFill>
              <a:srgbClr val="A85138"/>
            </a:solidFill>
            <a:ln w="38100" cap="flat">
              <a:solidFill>
                <a:srgbClr val="A85138"/>
              </a:solidFill>
              <a:prstDash val="solid"/>
              <a:round/>
            </a:ln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A85138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85138"/>
              </a:solidFill>
              <a:ln w="9525" cap="flat">
                <a:solidFill>
                  <a:srgbClr val="A851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Adult</c:v>
                  </c:pt>
                  <c:pt idx="2">
                    <c:v>Middle-Aged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60.45</c:v>
                </c:pt>
                <c:pt idx="1">
                  <c:v>59.42</c:v>
                </c:pt>
                <c:pt idx="2">
                  <c:v>60.04</c:v>
                </c:pt>
                <c:pt idx="3">
                  <c:v>59.07</c:v>
                </c:pt>
              </c:numCache>
            </c:numRef>
          </c:val>
          <c:smooth val="0"/>
        </c:ser>
        <c:dLbls>
          <c:numFmt formatCode="&quot;$&quot;0.00" sourceLinked="0"/>
          <c:txPr>
            <a:bodyPr/>
            <a:lstStyle/>
            <a:p>
              <a:pPr>
                <a:defRPr b="0" i="0" strike="noStrike" sz="1100" u="none">
                  <a:solidFill>
                    <a:srgbClr val="A851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EDD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65"/>
          <c:min val="40"/>
        </c:scaling>
        <c:delete val="1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15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B8863B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32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Não assinante</c:v>
                  </c:pt>
                  <c:pt idx="1">
                    <c:v>Assinante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170436</c:v>
                </c:pt>
                <c:pt idx="1">
                  <c:v>62645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32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Ticket Médio</c:v>
                </c:pt>
              </c:strCache>
            </c:strRef>
          </c:tx>
          <c:spPr>
            <a:solidFill>
              <a:srgbClr val="A85138"/>
            </a:solidFill>
            <a:ln w="38100" cap="flat">
              <a:solidFill>
                <a:srgbClr val="A85138"/>
              </a:solidFill>
              <a:prstDash val="solid"/>
              <a:round/>
            </a:ln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A85138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A85138"/>
              </a:solidFill>
              <a:ln w="9525" cap="flat">
                <a:solidFill>
                  <a:srgbClr val="A851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Não assinante</c:v>
                  </c:pt>
                  <c:pt idx="1">
                    <c:v>Assinante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59.87</c:v>
                </c:pt>
                <c:pt idx="1">
                  <c:v>59.49</c:v>
                </c:pt>
              </c:numCache>
            </c:numRef>
          </c:val>
          <c:smooth val="0"/>
        </c:ser>
        <c:dLbls>
          <c:numFmt formatCode="&quot;$&quot;0.00" sourceLinked="0"/>
          <c:txPr>
            <a:bodyPr/>
            <a:lstStyle/>
            <a:p>
              <a:pPr>
                <a:defRPr b="0" i="0" strike="noStrike" sz="1200" u="none">
                  <a:solidFill>
                    <a:srgbClr val="A851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EDDD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1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65"/>
          <c:min val="40"/>
        </c:scaling>
        <c:delete val="1"/>
        <c:axPos val="r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15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ANÁLISE DE DADOS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Comportamento de Compra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Cliente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estudo do comportamento de consumo combinando Python, PostgreSQL e Power BI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463040" cy="18288"/>
          </a:xfrm>
          <a:prstGeom prst="rect">
            <a:avLst/>
          </a:prstGeom>
          <a:solidFill>
            <a:srgbClr val="2E6B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257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 ·  Análise e Desenvolvimento de Sistemas — FAETERJ Paracambi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59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CHEGAMOS AQUI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Python/Pandas — tratamento de nulos, padronização e segmentação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502920" cy="502920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375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4290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da base tratada em PostgreSQL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377440"/>
            <a:ext cx="502920" cy="502920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4290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consultas SQL, cada uma respondendo a uma pergunta de negócio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32520" y="2377440"/>
            <a:ext cx="502920" cy="502920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32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3063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342900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interativo construído em Power BI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937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analisada: 3.900 transações de clientes, com variáveis demográficas, transacionais e comportamentais.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· IGUAL AOS CARDS DO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Panorama da 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9525">
            <a:solidFill>
              <a:srgbClr val="DEDD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Clientes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6517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9525">
            <a:solidFill>
              <a:srgbClr val="DEDD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de Assinantes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26517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9525">
            <a:solidFill>
              <a:srgbClr val="DEDD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$59,76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 Valor de Compra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2520" y="26517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9525">
            <a:solidFill>
              <a:srgbClr val="DED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2520" y="2971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3,75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Avaliações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DO DASHBOARD · GRÁFICO DE BARRAS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de Vendas por Categoria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65960"/>
          <a:ext cx="10058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DO DASHBOARD · GRÁFICO DE ROSCA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de Vendas por Sexo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377440" y="178308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0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Masculino: 67,8% da receita (68% da base de clientes)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DO DASHBOARD · TABELA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Produtos com Maior Avaliação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2011680"/>
          <a:ext cx="576072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880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E6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DO DASHBOARD · COLUNAS + LINHA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Vendas x Ticket Médio por Grupo de Idade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10058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DO DASHBOARD · COLUNAS + LINHA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de Vendas x Ticket Médio por Assinatura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011680" y="1920240"/>
          <a:ext cx="8138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C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MOSTRAM, EM UMA FRASE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Diferenças de receita entre gênero e assinatura refletem o tamanho de cada grupo — não o comportamento individual de compra.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92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ticket médio permanece estável entre segmentos; a receita total varia porque a base de clientes não é uniformemente distribuída.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de Negócio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programa de assinatura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134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Assinantes não gastam mais que não assinantes ($59,49 vs $59,87 de ticket médio) — os benefícios podem não estar gerando o incentivo esperado.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B886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71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Diversificar a dependência da categoria Clothing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649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concentra 45% da receita total — maior que as outras três categorias somadas.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2E6B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o que torna Gloves, Sandals e Boots os mais bem avaliados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41655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os diferencia pode orientar padrões de qualidade para o restante do catálogo.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B886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074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decisões por volume, não por segmento demográfico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4681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semelhante entre gêneros e faixas etárias limita o retorno de campanhas segmentadas por esses critérios.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CRÍTICA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da Análise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A8513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coluna de data/hora de transação — não é possível analisar tendência real ao longo do tempo.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A851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8346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exemplo (Kaggle), não dados transacionais de produção — padrões devem ser validados operacionalmente.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A8513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7033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de custo/margem por produto — recomendações de negócio são direcionais, não financeiras.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A851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45720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gênero limitada a duas categorias no dataset original.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B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Comportamento de Compra do Cliente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github.com/[usuário]/consumer-shopping-behavior-analysis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[link do Power BI publicado]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[seu link]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2026-09-18T18:07:27Z</dcterms:created>
  <dcterms:modified xsi:type="dcterms:W3CDTF">2026-09-18T18:07:27Z</dcterms:modified>
</cp:coreProperties>
</file>